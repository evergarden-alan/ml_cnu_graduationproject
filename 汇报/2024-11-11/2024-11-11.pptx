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3" r:id="rId7"/>
    <p:sldId id="262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19"/>
    <p:restoredTop sz="94692"/>
  </p:normalViewPr>
  <p:slideViewPr>
    <p:cSldViewPr snapToGrid="0">
      <p:cViewPr>
        <p:scale>
          <a:sx n="100" d="100"/>
          <a:sy n="100" d="100"/>
        </p:scale>
        <p:origin x="152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0D250-A94B-79C3-C8B6-4BC7F9F84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5FEF13-376F-E0CA-6EC9-73423843D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FB2F48-EBA6-8A9D-B37A-17B0FA41C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BE812-DD9E-5D43-8EE3-8CF8B6C57093}" type="datetimeFigureOut">
              <a:rPr kumimoji="1" lang="zh-CN" altLang="en-US" smtClean="0"/>
              <a:t>2024/11/10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65DE18-CF5E-FABD-2C4A-247FCEEA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AB2D03-BCB4-003F-BFF1-5E3B38400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4F56F-F03B-1F4F-B02B-A68C20286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5303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7D6FC5-21C2-0A16-BC5F-3B6A39868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8041D1-3FC7-9C7F-EB83-4E302B9EE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BAF41B-40DE-5589-6305-A622A335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BE812-DD9E-5D43-8EE3-8CF8B6C57093}" type="datetimeFigureOut">
              <a:rPr kumimoji="1" lang="zh-CN" altLang="en-US" smtClean="0"/>
              <a:t>2024/11/10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107A89-B0CD-7758-45EC-BDEC5D54B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EB1C9B-5EAA-604A-9526-527DC8D7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4F56F-F03B-1F4F-B02B-A68C20286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707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758943-646A-8D38-DAC1-A5E04650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F812F5-F90F-8ED3-9BF2-483D9FAD7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DBCB63-3CCE-6B74-D0A7-A48F03E58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BE812-DD9E-5D43-8EE3-8CF8B6C57093}" type="datetimeFigureOut">
              <a:rPr kumimoji="1" lang="zh-CN" altLang="en-US" smtClean="0"/>
              <a:t>2024/11/10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CE9045-980B-0F7A-5E25-916446198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788A49-2A78-479B-9E93-9D2605BD4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4F56F-F03B-1F4F-B02B-A68C20286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1381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59FF0A-C581-933B-0A68-9463B760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3AC556-3793-FE97-5871-A45B97732E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41F819-ADBC-C9A5-5B83-5B8AE8355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87F768-5C37-D548-DEB0-71881B6E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BE812-DD9E-5D43-8EE3-8CF8B6C57093}" type="datetimeFigureOut">
              <a:rPr kumimoji="1" lang="zh-CN" altLang="en-US" smtClean="0"/>
              <a:t>2024/11/10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AAC588-CB64-61F3-9069-F66AAE17F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90075E-624E-5EA7-45EF-6A14A2B6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4F56F-F03B-1F4F-B02B-A68C20286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7007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27277-A815-81CD-C951-E34072A7F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F58967-303E-A16A-9B94-F2749BC22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057126-8C8A-804A-D401-CC5955569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0DD4F2-7B6D-6D4C-3066-6FF08F10A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2130926-3460-0D7E-B1BC-5074AB2BE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DB64A38-D252-DD82-AED3-A7ADB8ACA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BE812-DD9E-5D43-8EE3-8CF8B6C57093}" type="datetimeFigureOut">
              <a:rPr kumimoji="1" lang="zh-CN" altLang="en-US" smtClean="0"/>
              <a:t>2024/11/10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79690F-0F03-C2A0-12C6-34925098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5A410A-D527-2E1D-234A-C8511FF1C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4F56F-F03B-1F4F-B02B-A68C20286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0550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AAB3C-36AE-8C7C-F161-E5183457B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B2E47C-AAA9-4EBA-785C-A8B980F50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BE812-DD9E-5D43-8EE3-8CF8B6C57093}" type="datetimeFigureOut">
              <a:rPr kumimoji="1" lang="zh-CN" altLang="en-US" smtClean="0"/>
              <a:t>2024/11/10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4DEE3D0-1694-F331-D60E-54C4FB93E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D1D9B5-E611-8109-DC56-617E9EBAA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4F56F-F03B-1F4F-B02B-A68C20286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9162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357F0D-5289-DA27-D208-66344B1EA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BE812-DD9E-5D43-8EE3-8CF8B6C57093}" type="datetimeFigureOut">
              <a:rPr kumimoji="1" lang="zh-CN" altLang="en-US" smtClean="0"/>
              <a:t>2024/11/10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F2E33A-5864-330B-A107-FC311FC9A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5A067F-A91B-865D-5228-FE4DDADD9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4F56F-F03B-1F4F-B02B-A68C20286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4304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44D56-F45E-67D2-F61E-6D35B2D74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8A50AA-704C-AF83-D84D-B8990F4D4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4794F1-284C-56AA-F229-607D5288E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C565C1-012C-E899-E687-FFD2BF905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BE812-DD9E-5D43-8EE3-8CF8B6C57093}" type="datetimeFigureOut">
              <a:rPr kumimoji="1" lang="zh-CN" altLang="en-US" smtClean="0"/>
              <a:t>2024/11/10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5ED179-C0D1-F91C-1FB9-4E306CB80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4232E5-7841-54CE-8EF4-43D2E11E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4F56F-F03B-1F4F-B02B-A68C20286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10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6F8EA-8AF0-90A8-EAEF-CD2601AE9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67A216-7F7A-654E-29B9-82FF9E253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CE080B-D946-206B-2F42-6C2BEF339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869BFD-41C0-3D4A-857B-B08B8E86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BE812-DD9E-5D43-8EE3-8CF8B6C57093}" type="datetimeFigureOut">
              <a:rPr kumimoji="1" lang="zh-CN" altLang="en-US" smtClean="0"/>
              <a:t>2024/11/10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1C3C7D-6BDE-F2A4-A7E4-D8B1C7D70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B71F2D-2A24-7C1A-3B7B-C82CDC2EC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4F56F-F03B-1F4F-B02B-A68C20286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2109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AF4C4-1D97-F437-21A5-8B7648708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BC9F4D-25CD-055E-9E7C-D1367C6E7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37A5A2-DAC4-467C-2AD3-7FFC36FD1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BE812-DD9E-5D43-8EE3-8CF8B6C57093}" type="datetimeFigureOut">
              <a:rPr kumimoji="1" lang="zh-CN" altLang="en-US" smtClean="0"/>
              <a:t>2024/11/10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0B0B86-E2BF-817C-7FA8-5E288D08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B786B2-188B-1BC8-7967-AA4334D2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4F56F-F03B-1F4F-B02B-A68C20286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7778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AA5EC29-7CE4-C8FD-9ED9-4EC3D5F736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E4A6ED-5246-5D09-CA8B-7DC415217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44B14-F86F-4FAE-DCC9-45AA9FCAF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BE812-DD9E-5D43-8EE3-8CF8B6C57093}" type="datetimeFigureOut">
              <a:rPr kumimoji="1" lang="zh-CN" altLang="en-US" smtClean="0"/>
              <a:t>2024/11/10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C7F431-C9D8-D11A-3DA2-DEBCF27A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7B98A9-FCF6-9AEA-91C3-328DA56B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4F56F-F03B-1F4F-B02B-A68C20286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1428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56DA945-AB29-FB59-9965-53A645A5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3172B2-E5D6-EC42-8E1A-5B3C14F41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A1A521-F97F-2FA8-DE12-B5C94515E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BE812-DD9E-5D43-8EE3-8CF8B6C57093}" type="datetimeFigureOut">
              <a:rPr kumimoji="1" lang="zh-CN" altLang="en-US" smtClean="0"/>
              <a:t>2024/11/10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6C1CC1-37B8-21F0-D520-FAD135450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53DDF8-4156-E99F-A600-AD0B19A4A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4F56F-F03B-1F4F-B02B-A68C20286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504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CFD046-6492-3090-3B0C-B7125DAC2B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系统溯源图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8FB895-8E4B-0ED0-25C6-4A7F13BED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55589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2940E-8B4F-C645-9A94-493C3F9BE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溯源图定义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B84E96-5896-E0C3-A619-20E4677EB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溯源图</a:t>
            </a:r>
            <a:r>
              <a:rPr lang="zh-CN" altLang="en-US" dirty="0">
                <a:solidFill>
                  <a:srgbClr val="0E0E0E"/>
                </a:solidFill>
                <a:effectLst/>
                <a:latin typeface=".SF NS"/>
              </a:rPr>
              <a:t>被定义为从审计日志中提取的用于追踪系统中实体（如进程、文件、网络连接）间因果关系的数据结构。这种图通过节点表示实体、通过带箭头的边表示实体之间的操作或事件关系，是一种有向图，帮助追踪并展示系统中对象间的因果依赖关系，以便进行安全分析和攻击溯源</a:t>
            </a:r>
          </a:p>
        </p:txBody>
      </p:sp>
    </p:spTree>
    <p:extLst>
      <p:ext uri="{BB962C8B-B14F-4D97-AF65-F5344CB8AC3E}">
        <p14:creationId xmlns:p14="http://schemas.microsoft.com/office/powerpoint/2010/main" val="7047002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3215D33-7929-DA56-D584-C481EDF7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8FD59B10-4F84-F1DF-D1DD-9BF360F22C9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58171897"/>
              </p:ext>
            </p:extLst>
          </p:nvPr>
        </p:nvGraphicFramePr>
        <p:xfrm>
          <a:off x="756744" y="1825625"/>
          <a:ext cx="526305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2677">
                  <a:extLst>
                    <a:ext uri="{9D8B030D-6E8A-4147-A177-3AD203B41FA5}">
                      <a16:colId xmlns:a16="http://schemas.microsoft.com/office/drawing/2014/main" val="1152087029"/>
                    </a:ext>
                  </a:extLst>
                </a:gridCol>
                <a:gridCol w="3560379">
                  <a:extLst>
                    <a:ext uri="{9D8B030D-6E8A-4147-A177-3AD203B41FA5}">
                      <a16:colId xmlns:a16="http://schemas.microsoft.com/office/drawing/2014/main" val="4108657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时间戳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操作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122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T0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process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A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creates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process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B</a:t>
                      </a:r>
                      <a:r>
                        <a:rPr lang="zh-CN" altLang="en-US" dirty="0"/>
                        <a:t>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770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T1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/>
                        <a:t>process B writes file 1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515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T2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/>
                        <a:t>process B writes file 2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15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T3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/>
                        <a:t>process A reads file 0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238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T4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/>
                        <a:t>process A creates process C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80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T5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/>
                        <a:t>process C reads file 1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217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T6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/>
                        <a:t>process C writes file X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987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T7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/>
                        <a:t>process C reads file 2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259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T8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dirty="0"/>
                        <a:t>process A creates process D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906423"/>
                  </a:ext>
                </a:extLst>
              </a:tr>
            </a:tbl>
          </a:graphicData>
        </a:graphic>
      </p:graphicFrame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C8FC4162-8787-4719-5596-4CAC0073C9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07047" y="1504156"/>
            <a:ext cx="3728209" cy="4351338"/>
          </a:xfrm>
        </p:spPr>
      </p:pic>
    </p:spTree>
    <p:extLst>
      <p:ext uri="{BB962C8B-B14F-4D97-AF65-F5344CB8AC3E}">
        <p14:creationId xmlns:p14="http://schemas.microsoft.com/office/powerpoint/2010/main" val="6960364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F12A8-13CB-2620-35D4-85C60F775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系统溯源图中节点和边的相关内容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74453-8B8C-9B4B-C7B8-901E55D59A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E0E0E"/>
                </a:solidFill>
                <a:effectLst/>
                <a:latin typeface=".SF NS"/>
              </a:rPr>
              <a:t>1. </a:t>
            </a:r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节点（</a:t>
            </a:r>
            <a:r>
              <a:rPr lang="en" altLang="zh-CN" b="1" dirty="0">
                <a:solidFill>
                  <a:srgbClr val="0E0E0E"/>
                </a:solidFill>
                <a:effectLst/>
                <a:latin typeface=".SF NS"/>
              </a:rPr>
              <a:t>Node</a:t>
            </a:r>
            <a:r>
              <a:rPr lang="zh-CN" altLang="en" b="1" dirty="0">
                <a:solidFill>
                  <a:srgbClr val="0E0E0E"/>
                </a:solidFill>
                <a:effectLst/>
                <a:latin typeface=".SF NS"/>
              </a:rPr>
              <a:t>）</a:t>
            </a:r>
            <a:endParaRPr lang="en" altLang="zh-CN" dirty="0">
              <a:solidFill>
                <a:srgbClr val="0E0E0E"/>
              </a:solidFill>
              <a:effectLst/>
              <a:latin typeface=".SF NS"/>
            </a:endParaRP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定义</a:t>
            </a:r>
            <a:r>
              <a:rPr lang="zh-CN" altLang="en-US" dirty="0">
                <a:solidFill>
                  <a:srgbClr val="0E0E0E"/>
                </a:solidFill>
                <a:effectLst/>
                <a:latin typeface=".SF NS"/>
              </a:rPr>
              <a:t>：节点代表系统中的一个实体或对象，如进程、文件、网络连接等。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含义</a:t>
            </a:r>
            <a:r>
              <a:rPr lang="zh-CN" altLang="en-US" dirty="0">
                <a:solidFill>
                  <a:srgbClr val="0E0E0E"/>
                </a:solidFill>
                <a:effectLst/>
                <a:latin typeface=".SF NS"/>
              </a:rPr>
              <a:t>：节点用于标识系统中关键的操作主体或数据对象。它们可以是各种资源，如进程、文件、套接字等，表示这些实体在系统中具有独立的存在，可以进行交互。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示例</a:t>
            </a:r>
            <a:r>
              <a:rPr lang="zh-CN" altLang="en-US" dirty="0">
                <a:solidFill>
                  <a:srgbClr val="0E0E0E"/>
                </a:solidFill>
                <a:effectLst/>
                <a:latin typeface=".SF NS"/>
              </a:rPr>
              <a:t>：在</a:t>
            </a:r>
            <a:r>
              <a:rPr lang="en" altLang="zh-CN" dirty="0">
                <a:solidFill>
                  <a:srgbClr val="0E0E0E"/>
                </a:solidFill>
                <a:effectLst/>
                <a:latin typeface=".SF NS"/>
              </a:rPr>
              <a:t>APT</a:t>
            </a:r>
            <a:r>
              <a:rPr lang="zh-CN" altLang="en-US" dirty="0">
                <a:solidFill>
                  <a:srgbClr val="0E0E0E"/>
                </a:solidFill>
                <a:effectLst/>
                <a:latin typeface=".SF NS"/>
              </a:rPr>
              <a:t>攻击检测中，节点可能表示可疑的文件或进程，帮助分析攻击链条的关键节点。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1CC5B2-4283-C24A-BB97-32DD8CD791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E0E0E"/>
                </a:solidFill>
                <a:effectLst/>
                <a:latin typeface=".SF NS"/>
              </a:rPr>
              <a:t>2. </a:t>
            </a:r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边（</a:t>
            </a:r>
            <a:r>
              <a:rPr lang="en" altLang="zh-CN" b="1" dirty="0">
                <a:solidFill>
                  <a:srgbClr val="0E0E0E"/>
                </a:solidFill>
                <a:effectLst/>
                <a:latin typeface=".SF NS"/>
              </a:rPr>
              <a:t>Edge</a:t>
            </a:r>
            <a:r>
              <a:rPr lang="zh-CN" altLang="en-US" b="1" dirty="0">
                <a:solidFill>
                  <a:srgbClr val="0E0E0E"/>
                </a:solidFill>
                <a:latin typeface=".SF NS"/>
              </a:rPr>
              <a:t>）</a:t>
            </a:r>
            <a:endParaRPr lang="en" altLang="zh-CN" dirty="0">
              <a:solidFill>
                <a:srgbClr val="0E0E0E"/>
              </a:solidFill>
              <a:effectLst/>
              <a:latin typeface=".SF NS"/>
            </a:endParaRP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定义</a:t>
            </a:r>
            <a:r>
              <a:rPr lang="zh-CN" altLang="en-US" dirty="0">
                <a:solidFill>
                  <a:srgbClr val="0E0E0E"/>
                </a:solidFill>
                <a:effectLst/>
                <a:latin typeface=".SF NS"/>
              </a:rPr>
              <a:t>：边表示节点之间的操作关系，通常带有方向，用箭头表示从一个节点到另一个节点的关系。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含义</a:t>
            </a:r>
            <a:r>
              <a:rPr lang="zh-CN" altLang="en-US" dirty="0">
                <a:solidFill>
                  <a:srgbClr val="0E0E0E"/>
                </a:solidFill>
                <a:effectLst/>
                <a:latin typeface=".SF NS"/>
              </a:rPr>
              <a:t>：边展示了实体之间的交互和因果关系，标明了一个实体对另一个实体的操作类型（如读取、写入、删除等），并通常带有时间戳，帮助建立时间序列中的事件顺序。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示例</a:t>
            </a:r>
            <a:r>
              <a:rPr lang="zh-CN" altLang="en-US" dirty="0">
                <a:solidFill>
                  <a:srgbClr val="0E0E0E"/>
                </a:solidFill>
                <a:effectLst/>
                <a:latin typeface=".SF NS"/>
              </a:rPr>
              <a:t>：在溯源图中，边可能表示进程</a:t>
            </a:r>
            <a:r>
              <a:rPr lang="en" altLang="zh-CN" dirty="0">
                <a:solidFill>
                  <a:srgbClr val="0E0E0E"/>
                </a:solidFill>
                <a:effectLst/>
                <a:latin typeface=".SF NS"/>
              </a:rPr>
              <a:t>A</a:t>
            </a:r>
            <a:r>
              <a:rPr lang="zh-CN" altLang="en-US" dirty="0">
                <a:solidFill>
                  <a:srgbClr val="0E0E0E"/>
                </a:solidFill>
                <a:effectLst/>
                <a:latin typeface=".SF NS"/>
              </a:rPr>
              <a:t>写入文件</a:t>
            </a:r>
            <a:r>
              <a:rPr lang="en" altLang="zh-CN" dirty="0">
                <a:solidFill>
                  <a:srgbClr val="0E0E0E"/>
                </a:solidFill>
                <a:effectLst/>
                <a:latin typeface=".SF NS"/>
              </a:rPr>
              <a:t>B</a:t>
            </a:r>
            <a:r>
              <a:rPr lang="zh-CN" altLang="en-US" dirty="0">
                <a:solidFill>
                  <a:srgbClr val="0E0E0E"/>
                </a:solidFill>
                <a:effectLst/>
                <a:latin typeface=".SF NS"/>
              </a:rPr>
              <a:t>的操作，或进程</a:t>
            </a:r>
            <a:r>
              <a:rPr lang="en" altLang="zh-CN" dirty="0">
                <a:solidFill>
                  <a:srgbClr val="0E0E0E"/>
                </a:solidFill>
                <a:effectLst/>
                <a:latin typeface=".SF NS"/>
              </a:rPr>
              <a:t>C</a:t>
            </a:r>
            <a:r>
              <a:rPr lang="zh-CN" altLang="en-US" dirty="0">
                <a:solidFill>
                  <a:srgbClr val="0E0E0E"/>
                </a:solidFill>
                <a:effectLst/>
                <a:latin typeface=".SF NS"/>
              </a:rPr>
              <a:t>读取文件</a:t>
            </a:r>
            <a:r>
              <a:rPr lang="en" altLang="zh-CN" dirty="0">
                <a:solidFill>
                  <a:srgbClr val="0E0E0E"/>
                </a:solidFill>
                <a:effectLst/>
                <a:latin typeface=".SF NS"/>
              </a:rPr>
              <a:t>D</a:t>
            </a:r>
            <a:r>
              <a:rPr lang="zh-CN" altLang="en-US" dirty="0">
                <a:solidFill>
                  <a:srgbClr val="0E0E0E"/>
                </a:solidFill>
                <a:effectLst/>
                <a:latin typeface=".SF NS"/>
              </a:rPr>
              <a:t>的操作，用于显示数据流向和攻击路径 。</a:t>
            </a:r>
          </a:p>
        </p:txBody>
      </p:sp>
    </p:spTree>
    <p:extLst>
      <p:ext uri="{BB962C8B-B14F-4D97-AF65-F5344CB8AC3E}">
        <p14:creationId xmlns:p14="http://schemas.microsoft.com/office/powerpoint/2010/main" val="3615262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FD5B5-8FEC-6795-8C77-D74AC2B2D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文中是如何处理数据的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B567E7D-E5CD-662E-B58A-AA7957D1B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从溯源图中获取全部攻击</a:t>
            </a:r>
            <a:r>
              <a:rPr lang="zh-CN" altLang="en-US" dirty="0">
                <a:hlinkClick r:id="rId2" action="ppaction://hlinksldjump"/>
              </a:rPr>
              <a:t>实体节点</a:t>
            </a:r>
            <a:r>
              <a:rPr lang="en-US" altLang="zh-CN" dirty="0"/>
              <a:t>,</a:t>
            </a:r>
            <a:r>
              <a:rPr lang="zh-CN" altLang="en-US" dirty="0"/>
              <a:t>并构成 </a:t>
            </a:r>
            <a:r>
              <a:rPr lang="en-US" altLang="zh-CN" dirty="0"/>
              <a:t>2 </a:t>
            </a:r>
            <a:r>
              <a:rPr lang="zh-CN" altLang="en-US" dirty="0"/>
              <a:t>个或多个的子集</a:t>
            </a:r>
            <a:r>
              <a:rPr lang="en-US" altLang="zh-CN" dirty="0"/>
              <a:t>;</a:t>
            </a:r>
            <a:r>
              <a:rPr lang="zh-CN" altLang="en-US" dirty="0"/>
              <a:t>然后从每个子集中提取攻击序列。具体方法如下</a:t>
            </a:r>
            <a:r>
              <a:rPr lang="en-US" altLang="zh-CN" dirty="0"/>
              <a:t>: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提取子集中每个节点的邻接图</a:t>
            </a:r>
            <a:r>
              <a:rPr lang="en-US" altLang="zh-CN" dirty="0"/>
              <a:t>,</a:t>
            </a:r>
            <a:r>
              <a:rPr lang="zh-CN" altLang="en-US" dirty="0"/>
              <a:t>若某事件的起始节点或目标节点为攻击节点</a:t>
            </a:r>
            <a:r>
              <a:rPr lang="en-US" altLang="zh-CN" dirty="0"/>
              <a:t>,</a:t>
            </a:r>
            <a:r>
              <a:rPr lang="zh-CN" altLang="en-US" dirty="0"/>
              <a:t>则称其为攻击事件</a:t>
            </a:r>
            <a:r>
              <a:rPr lang="en-US" altLang="zh-CN" dirty="0"/>
              <a:t>,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按照时间戳顺序生成事件的序列</a:t>
            </a:r>
            <a:r>
              <a:rPr lang="en-US" altLang="zh-CN" dirty="0"/>
              <a:t>,</a:t>
            </a:r>
            <a:r>
              <a:rPr lang="zh-CN" altLang="en-US" dirty="0"/>
              <a:t>若该序列只含有攻击序列</a:t>
            </a:r>
            <a:r>
              <a:rPr lang="en-US" altLang="zh-CN" dirty="0"/>
              <a:t>,</a:t>
            </a:r>
            <a:r>
              <a:rPr lang="zh-CN" altLang="en-US" dirty="0"/>
              <a:t>且包含该子集中所有攻击事件</a:t>
            </a:r>
            <a:r>
              <a:rPr lang="en-US" altLang="zh-CN" dirty="0"/>
              <a:t>,</a:t>
            </a:r>
            <a:r>
              <a:rPr lang="zh-CN" altLang="en-US" dirty="0"/>
              <a:t>则将该序列标记为攻击序列。</a:t>
            </a:r>
          </a:p>
        </p:txBody>
      </p:sp>
    </p:spTree>
    <p:extLst>
      <p:ext uri="{BB962C8B-B14F-4D97-AF65-F5344CB8AC3E}">
        <p14:creationId xmlns:p14="http://schemas.microsoft.com/office/powerpoint/2010/main" val="39294639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AC1E826B-D767-3B79-C8D6-DD122C4A8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实体节点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D3052D58-DF71-4ED5-48CD-FAC1F92FA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952264"/>
            <a:ext cx="6172200" cy="2943946"/>
          </a:xfrm>
        </p:spPr>
      </p:pic>
      <p:sp>
        <p:nvSpPr>
          <p:cNvPr id="9" name="文本占位符 8">
            <a:extLst>
              <a:ext uri="{FF2B5EF4-FFF2-40B4-BE49-F238E27FC236}">
                <a16:creationId xmlns:a16="http://schemas.microsoft.com/office/drawing/2014/main" id="{1FCF7207-868F-7221-95C1-F5FF1CBFA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       溯源图中的实体是指系统中的对象</a:t>
            </a:r>
            <a:r>
              <a:rPr lang="en-US" altLang="zh-CN" sz="2400" dirty="0"/>
              <a:t>,</a:t>
            </a:r>
            <a:r>
              <a:rPr lang="zh-CN" altLang="en-US" sz="2400" dirty="0"/>
              <a:t>如进程、文件、网络端口等</a:t>
            </a:r>
            <a:r>
              <a:rPr lang="en-US" altLang="zh-CN" sz="2400" dirty="0"/>
              <a:t>,</a:t>
            </a:r>
            <a:r>
              <a:rPr lang="zh-CN" altLang="en-US" sz="2400" dirty="0"/>
              <a:t>实体是从日志中提取的唯一系统主体或对象</a:t>
            </a:r>
            <a:r>
              <a:rPr lang="en-US" altLang="zh-CN" sz="2400" dirty="0"/>
              <a:t>,</a:t>
            </a:r>
            <a:r>
              <a:rPr lang="zh-CN" altLang="en-US" sz="2400" dirty="0"/>
              <a:t>并用节点表示。实体可以是进程、文件和网络连接</a:t>
            </a:r>
            <a:r>
              <a:rPr lang="en-US" altLang="zh-CN" sz="2400" dirty="0"/>
              <a:t>(</a:t>
            </a:r>
            <a:r>
              <a:rPr lang="zh-CN" altLang="en-US" sz="2400" dirty="0"/>
              <a:t>如 </a:t>
            </a:r>
            <a:r>
              <a:rPr lang="en" altLang="zh-CN" sz="2400" dirty="0"/>
              <a:t>IP </a:t>
            </a:r>
            <a:r>
              <a:rPr lang="zh-CN" altLang="en-US" sz="2400" dirty="0"/>
              <a:t>地址和域名</a:t>
            </a:r>
            <a:r>
              <a:rPr lang="en-US" altLang="zh-CN" sz="2400" dirty="0"/>
              <a:t>),</a:t>
            </a:r>
            <a:r>
              <a:rPr lang="zh-CN" altLang="en-US" sz="2400" dirty="0"/>
              <a:t>溯源图中的实体如图所示</a:t>
            </a:r>
          </a:p>
        </p:txBody>
      </p:sp>
    </p:spTree>
    <p:extLst>
      <p:ext uri="{BB962C8B-B14F-4D97-AF65-F5344CB8AC3E}">
        <p14:creationId xmlns:p14="http://schemas.microsoft.com/office/powerpoint/2010/main" val="4188288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F5A3C-2035-A299-BB50-4350138AE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D7B85-B885-E24C-DBA6-702787BC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文中是如何处理数据的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05BBA70-5E85-9609-36FE-3624D806F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348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从溯源图中获取全部攻击实体节点</a:t>
            </a:r>
            <a:r>
              <a:rPr lang="en-US" altLang="zh-CN" sz="2400" dirty="0"/>
              <a:t>,</a:t>
            </a:r>
            <a:r>
              <a:rPr lang="zh-CN" altLang="en-US" sz="2400" dirty="0"/>
              <a:t>并构成子集</a:t>
            </a:r>
            <a:r>
              <a:rPr lang="en-US" altLang="zh-CN" sz="2400" dirty="0"/>
              <a:t>;</a:t>
            </a:r>
            <a:r>
              <a:rPr lang="zh-CN" altLang="en-US" sz="2400" dirty="0"/>
              <a:t>然后从每个子集中提取攻击序列。具体方法如下</a:t>
            </a:r>
            <a:r>
              <a:rPr lang="en-US" altLang="zh-CN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提取子集中每个节点的邻接图</a:t>
            </a:r>
            <a:r>
              <a:rPr lang="en-US" altLang="zh-CN" sz="2000" dirty="0"/>
              <a:t>,</a:t>
            </a:r>
            <a:r>
              <a:rPr lang="zh-CN" altLang="en-US" sz="2000" dirty="0"/>
              <a:t>若某</a:t>
            </a:r>
            <a:r>
              <a:rPr lang="zh-CN" altLang="en-US" sz="2000" dirty="0">
                <a:hlinkClick r:id="rId2" action="ppaction://hlinksldjump"/>
              </a:rPr>
              <a:t>事件</a:t>
            </a:r>
            <a:r>
              <a:rPr lang="zh-CN" altLang="en-US" sz="2000" dirty="0"/>
              <a:t>的起始节点或目标节点为攻击节点</a:t>
            </a:r>
            <a:r>
              <a:rPr lang="en-US" altLang="zh-CN" sz="2000" dirty="0"/>
              <a:t>,</a:t>
            </a:r>
            <a:r>
              <a:rPr lang="zh-CN" altLang="en-US" sz="2000" dirty="0"/>
              <a:t>则称其为攻击事件</a:t>
            </a:r>
            <a:r>
              <a:rPr lang="en-US" altLang="zh-CN" sz="2000" dirty="0"/>
              <a:t>,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按照时间戳顺序生成事件的序列</a:t>
            </a:r>
            <a:r>
              <a:rPr lang="en-US" altLang="zh-CN" sz="2000" dirty="0"/>
              <a:t>,</a:t>
            </a:r>
            <a:r>
              <a:rPr lang="zh-CN" altLang="en-US" sz="2000" dirty="0"/>
              <a:t>若该序列只含有攻击序列</a:t>
            </a:r>
            <a:r>
              <a:rPr lang="en-US" altLang="zh-CN" sz="2000" dirty="0"/>
              <a:t>,</a:t>
            </a:r>
            <a:r>
              <a:rPr lang="zh-CN" altLang="en-US" sz="2000" dirty="0"/>
              <a:t>且包含该子集中所有攻击事件</a:t>
            </a:r>
            <a:r>
              <a:rPr lang="en-US" altLang="zh-CN" sz="2000" dirty="0"/>
              <a:t>,</a:t>
            </a:r>
            <a:r>
              <a:rPr lang="zh-CN" altLang="en-US" sz="2000" dirty="0"/>
              <a:t>则将该序列标记为攻击序列。</a:t>
            </a:r>
          </a:p>
        </p:txBody>
      </p:sp>
      <p:pic>
        <p:nvPicPr>
          <p:cNvPr id="3" name="内容占位符 8">
            <a:extLst>
              <a:ext uri="{FF2B5EF4-FFF2-40B4-BE49-F238E27FC236}">
                <a16:creationId xmlns:a16="http://schemas.microsoft.com/office/drawing/2014/main" id="{D3ADA6D6-FBBA-9174-FF1B-C51849686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607" y="1493996"/>
            <a:ext cx="37282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370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1E14245-911D-6E26-DA5F-741FA712C749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38200" y="2057400"/>
            <a:ext cx="10515600" cy="3811588"/>
          </a:xfrm>
        </p:spPr>
        <p:txBody>
          <a:bodyPr/>
          <a:lstStyle/>
          <a:p>
            <a:r>
              <a:rPr lang="zh-CN" altLang="en-US" dirty="0"/>
              <a:t>一个事件是一个四元组</a:t>
            </a:r>
            <a:r>
              <a:rPr lang="en-US" altLang="zh-CN" dirty="0"/>
              <a:t>,</a:t>
            </a:r>
            <a:r>
              <a:rPr lang="zh-CN" altLang="en-US" dirty="0"/>
              <a:t>由源</a:t>
            </a:r>
            <a:r>
              <a:rPr lang="zh-CN" altLang="en" dirty="0"/>
              <a:t>、</a:t>
            </a:r>
            <a:r>
              <a:rPr lang="zh-CN" altLang="en-US" dirty="0"/>
              <a:t>动作</a:t>
            </a:r>
            <a:r>
              <a:rPr lang="zh-CN" altLang="en" dirty="0"/>
              <a:t>、</a:t>
            </a:r>
            <a:r>
              <a:rPr lang="zh-CN" altLang="en-US" dirty="0"/>
              <a:t>目标</a:t>
            </a:r>
            <a:r>
              <a:rPr lang="zh-CN" altLang="en" dirty="0"/>
              <a:t>、</a:t>
            </a:r>
            <a:r>
              <a:rPr lang="zh-CN" altLang="en-US" dirty="0"/>
              <a:t>时间戳组成</a:t>
            </a:r>
            <a:r>
              <a:rPr lang="en-US" altLang="zh-CN" dirty="0"/>
              <a:t>,</a:t>
            </a:r>
            <a:r>
              <a:rPr lang="zh-CN" altLang="en-US" dirty="0"/>
              <a:t>其中</a:t>
            </a:r>
            <a:r>
              <a:rPr lang="en-US" altLang="zh-CN" dirty="0"/>
              <a:t>,  </a:t>
            </a:r>
            <a:r>
              <a:rPr lang="zh-CN" altLang="en-US" dirty="0"/>
              <a:t>源和目标是通过动作连接的 </a:t>
            </a:r>
            <a:r>
              <a:rPr lang="en-US" altLang="zh-CN" dirty="0"/>
              <a:t>2 </a:t>
            </a:r>
            <a:r>
              <a:rPr lang="zh-CN" altLang="en-US" dirty="0"/>
              <a:t>个实体</a:t>
            </a:r>
            <a:r>
              <a:rPr lang="en-US" altLang="zh-CN" dirty="0"/>
              <a:t>,</a:t>
            </a:r>
            <a:r>
              <a:rPr lang="zh-CN" altLang="en-US" dirty="0"/>
              <a:t>时间戳表示事件发生的时间。</a:t>
            </a:r>
            <a:endParaRPr lang="en-US" altLang="zh-CN" dirty="0"/>
          </a:p>
          <a:p>
            <a:r>
              <a:rPr lang="zh-CN" altLang="en-US" dirty="0"/>
              <a:t>例如下图，实体</a:t>
            </a:r>
            <a:r>
              <a:rPr lang="en-US" altLang="zh-CN" dirty="0"/>
              <a:t>B</a:t>
            </a:r>
            <a:r>
              <a:rPr lang="zh-CN" altLang="en-US" dirty="0"/>
              <a:t>关联的两个事件，分别表示为：</a:t>
            </a:r>
            <a:r>
              <a:rPr lang="en-US" altLang="zh-CN" dirty="0"/>
              <a:t>	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&lt;A,a1,B,T1&gt;</a:t>
            </a:r>
          </a:p>
          <a:p>
            <a:pPr lvl="1"/>
            <a:r>
              <a:rPr lang="en-US" altLang="zh-CN" dirty="0"/>
              <a:t>&lt;B,a2,C,T2&gt;</a:t>
            </a: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9C4E150-26C7-D9CB-AC8F-2124EA912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事件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49D5B0C6-3B84-04D4-9031-C96258CDB3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5150" y="3634264"/>
            <a:ext cx="3949700" cy="1104900"/>
          </a:xfrm>
        </p:spPr>
      </p:pic>
    </p:spTree>
    <p:extLst>
      <p:ext uri="{BB962C8B-B14F-4D97-AF65-F5344CB8AC3E}">
        <p14:creationId xmlns:p14="http://schemas.microsoft.com/office/powerpoint/2010/main" val="18331695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946B-C636-496B-983D-6922578E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F3C82-3EC5-BDA3-0811-FD05C130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文中是如何处理数据的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B1638F0-61AD-3FD6-2729-3815E8E47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348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从溯源图中获取全部攻击实体节点</a:t>
            </a:r>
            <a:r>
              <a:rPr lang="en-US" altLang="zh-CN" sz="2400" dirty="0"/>
              <a:t>,</a:t>
            </a:r>
            <a:r>
              <a:rPr lang="zh-CN" altLang="en-US" sz="2400" dirty="0"/>
              <a:t>并构成子集</a:t>
            </a:r>
            <a:r>
              <a:rPr lang="en-US" altLang="zh-CN" sz="2400" dirty="0"/>
              <a:t>;</a:t>
            </a:r>
            <a:r>
              <a:rPr lang="zh-CN" altLang="en-US" sz="2400" dirty="0"/>
              <a:t>然后从每个子集中提取攻击序列。具体方法如下</a:t>
            </a:r>
            <a:r>
              <a:rPr lang="en-US" altLang="zh-CN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提取子集中每个节点的邻接图</a:t>
            </a:r>
            <a:r>
              <a:rPr lang="en-US" altLang="zh-CN" sz="2000" dirty="0"/>
              <a:t>,</a:t>
            </a:r>
            <a:r>
              <a:rPr lang="zh-CN" altLang="en-US" sz="2000" dirty="0"/>
              <a:t>若某</a:t>
            </a:r>
            <a:r>
              <a:rPr lang="zh-CN" altLang="en-US" sz="2000" dirty="0">
                <a:hlinkClick r:id="rId2" action="ppaction://hlinksldjump"/>
              </a:rPr>
              <a:t>事件</a:t>
            </a:r>
            <a:r>
              <a:rPr lang="zh-CN" altLang="en-US" sz="2000" dirty="0"/>
              <a:t>的起始节点或目标节点为攻击节点</a:t>
            </a:r>
            <a:r>
              <a:rPr lang="en-US" altLang="zh-CN" sz="2000" dirty="0"/>
              <a:t>,</a:t>
            </a:r>
            <a:r>
              <a:rPr lang="zh-CN" altLang="en-US" sz="2000" dirty="0"/>
              <a:t>则称其为攻击事件</a:t>
            </a:r>
            <a:r>
              <a:rPr lang="en-US" altLang="zh-CN" sz="2000" dirty="0"/>
              <a:t>,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按照时间戳顺序生成事件的序列</a:t>
            </a:r>
            <a:r>
              <a:rPr lang="en-US" altLang="zh-CN" sz="2000" dirty="0"/>
              <a:t>,</a:t>
            </a:r>
            <a:r>
              <a:rPr lang="zh-CN" altLang="en-US" sz="2000" dirty="0"/>
              <a:t>若该序列包含该子集中所有攻击事件</a:t>
            </a:r>
            <a:r>
              <a:rPr lang="en-US" altLang="zh-CN" sz="2000" dirty="0"/>
              <a:t>,</a:t>
            </a:r>
            <a:r>
              <a:rPr lang="zh-CN" altLang="en-US" sz="2000" dirty="0"/>
              <a:t>则将该序列标记为攻击序列。</a:t>
            </a:r>
          </a:p>
        </p:txBody>
      </p:sp>
      <p:pic>
        <p:nvPicPr>
          <p:cNvPr id="3" name="内容占位符 8">
            <a:extLst>
              <a:ext uri="{FF2B5EF4-FFF2-40B4-BE49-F238E27FC236}">
                <a16:creationId xmlns:a16="http://schemas.microsoft.com/office/drawing/2014/main" id="{E25ED643-CABD-BC29-017C-C7E062378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607" y="1493996"/>
            <a:ext cx="37282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374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0ECF974-9550-44BA-C147-1C1D7160D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攻击序列生成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C67718E-71C4-D9E6-411C-7BD6160B4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400" dirty="0"/>
              <a:t>&lt;A,create,B,T0&gt;</a:t>
            </a:r>
          </a:p>
          <a:p>
            <a:r>
              <a:rPr lang="en-US" altLang="zh-CN" sz="2400" dirty="0"/>
              <a:t>&lt;B,write,file1,T1&gt;</a:t>
            </a:r>
          </a:p>
          <a:p>
            <a:r>
              <a:rPr lang="en-US" altLang="zh-CN" sz="2400" dirty="0"/>
              <a:t>&lt;B,write,file2,T2&gt;</a:t>
            </a:r>
          </a:p>
          <a:p>
            <a:r>
              <a:rPr lang="en-US" altLang="zh-CN" sz="2400" dirty="0"/>
              <a:t>&lt;A,read,file0,T3&gt;</a:t>
            </a:r>
          </a:p>
          <a:p>
            <a:r>
              <a:rPr lang="en-US" altLang="zh-CN" sz="2400" dirty="0"/>
              <a:t>&lt;A,create,C,T4&gt;</a:t>
            </a:r>
          </a:p>
          <a:p>
            <a:r>
              <a:rPr lang="en-US" altLang="zh-CN" sz="2400" dirty="0"/>
              <a:t>&lt;C,read,file1,T5&gt;</a:t>
            </a:r>
          </a:p>
          <a:p>
            <a:r>
              <a:rPr lang="en-US" altLang="zh-CN" sz="2400" dirty="0"/>
              <a:t>&lt;C,write,fileX,T6&gt;</a:t>
            </a:r>
          </a:p>
          <a:p>
            <a:r>
              <a:rPr lang="en-US" altLang="zh-CN" sz="2400" dirty="0"/>
              <a:t>&lt;C,write,file2,T7&gt;</a:t>
            </a:r>
          </a:p>
          <a:p>
            <a:r>
              <a:rPr lang="en-US" altLang="zh-CN" sz="2400" dirty="0"/>
              <a:t>&lt;A,create,D,T8&gt;</a:t>
            </a:r>
            <a:endParaRPr lang="zh-CN" altLang="en-US" sz="2400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8EB32B18-F519-FCB1-CC48-CD93DD149CA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773" b="501"/>
          <a:stretch/>
        </p:blipFill>
        <p:spPr>
          <a:xfrm>
            <a:off x="6096000" y="457200"/>
            <a:ext cx="4986257" cy="574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19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EEAB84-BD4A-5BAF-A1C2-DB6D0224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253" y="3305720"/>
            <a:ext cx="2624771" cy="574040"/>
          </a:xfrm>
        </p:spPr>
        <p:txBody>
          <a:bodyPr>
            <a:normAutofit/>
          </a:bodyPr>
          <a:lstStyle/>
          <a:p>
            <a:r>
              <a:rPr kumimoji="1" lang="en-US" altLang="zh-CN" sz="2400" b="1" dirty="0"/>
              <a:t>word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embedding</a:t>
            </a:r>
            <a:endParaRPr kumimoji="1" lang="zh-CN" altLang="en-US" sz="2400" b="1" dirty="0"/>
          </a:p>
        </p:txBody>
      </p:sp>
      <p:pic>
        <p:nvPicPr>
          <p:cNvPr id="6" name="图片占位符 5">
            <a:extLst>
              <a:ext uri="{FF2B5EF4-FFF2-40B4-BE49-F238E27FC236}">
                <a16:creationId xmlns:a16="http://schemas.microsoft.com/office/drawing/2014/main" id="{1C0316EC-0B91-7EBA-8016-12D23F80D8F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16" t="-163" r="26" b="163"/>
          <a:stretch/>
        </p:blipFill>
        <p:spPr>
          <a:xfrm>
            <a:off x="4772024" y="2092032"/>
            <a:ext cx="7105015" cy="3807436"/>
          </a:xfrm>
        </p:spPr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20C7FB-9023-1A0F-3CEF-6FEC10F86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89956"/>
            <a:ext cx="2147253" cy="3811588"/>
          </a:xfrm>
        </p:spPr>
        <p:txBody>
          <a:bodyPr>
            <a:normAutofit/>
          </a:bodyPr>
          <a:lstStyle/>
          <a:p>
            <a:pPr>
              <a:lnSpc>
                <a:spcPts val="2000"/>
              </a:lnSpc>
            </a:pPr>
            <a:r>
              <a:rPr lang="en-US" altLang="zh-CN" sz="2000" dirty="0"/>
              <a:t>&lt;A,create,B,T0&gt;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&lt;B,write,file1,T1&gt;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&lt;B,write,file2,T2&gt;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&lt;A,read,file0,T3&gt;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&lt;A,create,C,T4&gt;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&lt;C,read,file1,T5&gt;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&lt;C,write,fileX,T6&gt;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&lt;C,write,file2,T7&gt;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&lt;A,create,D,T8&gt;</a:t>
            </a:r>
            <a:endParaRPr lang="zh-CN" altLang="en-US" sz="2000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B0C745D-1D13-A26B-26AE-411009B7B68B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147253" y="3995750"/>
            <a:ext cx="2624771" cy="0"/>
          </a:xfrm>
          <a:prstGeom prst="straightConnector1">
            <a:avLst/>
          </a:prstGeom>
          <a:ln w="952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0259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FF86723-5CEA-DB14-466C-D502B3062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两个结论：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A7297D-756B-FEA4-9C5E-553715492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时序信息非常重要</a:t>
            </a:r>
            <a:endParaRPr lang="en-US" altLang="zh-CN" b="1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zh-CN" altLang="en-US" b="1" dirty="0">
                <a:solidFill>
                  <a:srgbClr val="0E0E0E"/>
                </a:solidFill>
                <a:latin typeface=".SF NS"/>
              </a:rPr>
              <a:t>图的结构信息同样重要</a:t>
            </a:r>
            <a:endParaRPr lang="zh-CN" altLang="en-US" dirty="0">
              <a:solidFill>
                <a:srgbClr val="0E0E0E"/>
              </a:solidFill>
              <a:effectLst/>
              <a:latin typeface=".SF NS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78253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D33E3-DBD7-A8AF-F5B9-96E93F72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时序信息作用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1EDA3D-3F8D-8808-EC0F-EF69E55F9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还原攻击链条</a:t>
            </a:r>
            <a:endParaRPr lang="en-US" altLang="zh-CN" b="1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捕捉异常行为</a:t>
            </a:r>
            <a:endParaRPr lang="zh-CN" altLang="en-US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多步依赖关系分析</a:t>
            </a:r>
            <a:endParaRPr lang="zh-CN" altLang="en-US" dirty="0">
              <a:solidFill>
                <a:srgbClr val="0E0E0E"/>
              </a:solidFill>
              <a:effectLst/>
              <a:latin typeface=".SF NS"/>
            </a:endParaRPr>
          </a:p>
          <a:p>
            <a:endParaRPr lang="zh-CN" altLang="en-US" dirty="0">
              <a:solidFill>
                <a:srgbClr val="0E0E0E"/>
              </a:solidFill>
              <a:effectLst/>
              <a:latin typeface=".SF N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02366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EF743-C8D5-A251-2E48-7089E3FEF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图结构信息作用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CB141E-F0BF-E93E-5248-1A22F01AD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捕捉实体之间的依赖关系</a:t>
            </a:r>
            <a:endParaRPr lang="zh-CN" altLang="en-US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多阶段攻击链的识别</a:t>
            </a:r>
            <a:endParaRPr lang="zh-CN" altLang="en-US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zh-CN" altLang="en-US" b="1" dirty="0">
                <a:solidFill>
                  <a:srgbClr val="0E0E0E"/>
                </a:solidFill>
                <a:effectLst/>
                <a:latin typeface=".SF NS"/>
              </a:rPr>
              <a:t>异常模式和关键节点识别</a:t>
            </a:r>
            <a:endParaRPr lang="zh-CN" altLang="en-US" dirty="0">
              <a:solidFill>
                <a:srgbClr val="0E0E0E"/>
              </a:solidFill>
              <a:effectLst/>
              <a:latin typeface=".SF NS"/>
            </a:endParaRPr>
          </a:p>
        </p:txBody>
      </p:sp>
    </p:spTree>
    <p:extLst>
      <p:ext uri="{BB962C8B-B14F-4D97-AF65-F5344CB8AC3E}">
        <p14:creationId xmlns:p14="http://schemas.microsoft.com/office/powerpoint/2010/main" val="5037273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08B07-38CA-3076-E8C5-317A5E9D7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5631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dirty="0"/>
              <a:t>利用滑动窗口，得到图结构序列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7058747-D0F3-C628-4389-7FCC000D0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当前的思路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854D55-F350-8A0A-F7A7-1DCCB8B25742}"/>
              </a:ext>
            </a:extLst>
          </p:cNvPr>
          <p:cNvSpPr txBox="1">
            <a:spLocks/>
          </p:cNvSpPr>
          <p:nvPr/>
        </p:nvSpPr>
        <p:spPr>
          <a:xfrm>
            <a:off x="7984901" y="1523206"/>
            <a:ext cx="2147253" cy="381158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00"/>
              </a:lnSpc>
            </a:pPr>
            <a:r>
              <a:rPr lang="en-US" altLang="zh-CN" sz="2000" dirty="0"/>
              <a:t>&lt;A,create,B,T0&gt;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&lt;B,write,file1,T1&gt;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&lt;B,write,file2,T2&gt;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&lt;A,read,file0,T3&gt;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&lt;A,create,C,T4&gt;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&lt;C,read,file1,T5&gt;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&lt;C,write,fileX,T6&gt;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&lt;C,write,file2,T7&gt;</a:t>
            </a:r>
          </a:p>
          <a:p>
            <a:pPr>
              <a:lnSpc>
                <a:spcPts val="2000"/>
              </a:lnSpc>
            </a:pPr>
            <a:r>
              <a:rPr lang="en-US" altLang="zh-CN" sz="2000" dirty="0"/>
              <a:t>&lt;A,create,D,T8&gt;</a:t>
            </a:r>
            <a:endParaRPr lang="zh-CN" altLang="en-US" sz="2000" dirty="0"/>
          </a:p>
        </p:txBody>
      </p:sp>
      <p:sp>
        <p:nvSpPr>
          <p:cNvPr id="5" name="框架 4">
            <a:extLst>
              <a:ext uri="{FF2B5EF4-FFF2-40B4-BE49-F238E27FC236}">
                <a16:creationId xmlns:a16="http://schemas.microsoft.com/office/drawing/2014/main" id="{AA03760D-0D20-4760-02BC-F1495E6A03BD}"/>
              </a:ext>
            </a:extLst>
          </p:cNvPr>
          <p:cNvSpPr/>
          <p:nvPr/>
        </p:nvSpPr>
        <p:spPr>
          <a:xfrm>
            <a:off x="8281115" y="1570345"/>
            <a:ext cx="1674254" cy="2177407"/>
          </a:xfrm>
          <a:prstGeom prst="frame">
            <a:avLst>
              <a:gd name="adj1" fmla="val 962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框架 5">
            <a:extLst>
              <a:ext uri="{FF2B5EF4-FFF2-40B4-BE49-F238E27FC236}">
                <a16:creationId xmlns:a16="http://schemas.microsoft.com/office/drawing/2014/main" id="{0B793718-1C05-7767-9FBF-15C2C645F77E}"/>
              </a:ext>
            </a:extLst>
          </p:cNvPr>
          <p:cNvSpPr/>
          <p:nvPr/>
        </p:nvSpPr>
        <p:spPr>
          <a:xfrm>
            <a:off x="8281115" y="2318058"/>
            <a:ext cx="1674254" cy="2269023"/>
          </a:xfrm>
          <a:prstGeom prst="frame">
            <a:avLst>
              <a:gd name="adj1" fmla="val 962"/>
            </a:avLst>
          </a:prstGeom>
          <a:solidFill>
            <a:schemeClr val="accent2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EA17646B-F8B1-44E8-AF4B-EDD091D1C2D5}"/>
              </a:ext>
            </a:extLst>
          </p:cNvPr>
          <p:cNvCxnSpPr/>
          <p:nvPr/>
        </p:nvCxnSpPr>
        <p:spPr>
          <a:xfrm>
            <a:off x="9955369" y="2215166"/>
            <a:ext cx="875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4E24BFC9-0120-07DE-8E04-0D4087CD15ED}"/>
              </a:ext>
            </a:extLst>
          </p:cNvPr>
          <p:cNvSpPr/>
          <p:nvPr/>
        </p:nvSpPr>
        <p:spPr>
          <a:xfrm>
            <a:off x="10873525" y="1983346"/>
            <a:ext cx="437882" cy="4636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411378C-5B22-FB00-9729-9E27D87704B8}"/>
              </a:ext>
            </a:extLst>
          </p:cNvPr>
          <p:cNvCxnSpPr/>
          <p:nvPr/>
        </p:nvCxnSpPr>
        <p:spPr>
          <a:xfrm>
            <a:off x="9955369" y="4095482"/>
            <a:ext cx="875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799A75E7-9202-960E-4A6C-A976EB3E5E67}"/>
              </a:ext>
            </a:extLst>
          </p:cNvPr>
          <p:cNvSpPr/>
          <p:nvPr/>
        </p:nvSpPr>
        <p:spPr>
          <a:xfrm>
            <a:off x="10860646" y="3863662"/>
            <a:ext cx="437882" cy="4636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0678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内容占位符 8">
            <a:extLst>
              <a:ext uri="{FF2B5EF4-FFF2-40B4-BE49-F238E27FC236}">
                <a16:creationId xmlns:a16="http://schemas.microsoft.com/office/drawing/2014/main" id="{44BB1CAE-B8C1-9131-4928-6B91A7B26C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3" b="501"/>
          <a:stretch/>
        </p:blipFill>
        <p:spPr>
          <a:xfrm>
            <a:off x="2670493" y="3131449"/>
            <a:ext cx="2253349" cy="259645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59ED6EC-EF7E-D8AD-500A-477E7B208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03FDAD-768C-7F1A-6672-FAD1625C1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86500" cy="692818"/>
          </a:xfrm>
        </p:spPr>
        <p:txBody>
          <a:bodyPr/>
          <a:lstStyle/>
          <a:p>
            <a:r>
              <a:rPr kumimoji="1" lang="zh-CN" altLang="en-US" dirty="0"/>
              <a:t>将图结构序列作为</a:t>
            </a:r>
            <a:r>
              <a:rPr kumimoji="1" lang="en-US" altLang="zh-CN" dirty="0"/>
              <a:t>transformer</a:t>
            </a:r>
            <a:r>
              <a:rPr kumimoji="1" lang="zh-CN" altLang="en-US" dirty="0"/>
              <a:t>的输入</a:t>
            </a:r>
            <a:endParaRPr kumimoji="1" lang="en-US" altLang="zh-CN" dirty="0"/>
          </a:p>
        </p:txBody>
      </p:sp>
      <p:sp>
        <p:nvSpPr>
          <p:cNvPr id="5" name="框架 4">
            <a:extLst>
              <a:ext uri="{FF2B5EF4-FFF2-40B4-BE49-F238E27FC236}">
                <a16:creationId xmlns:a16="http://schemas.microsoft.com/office/drawing/2014/main" id="{0D294456-4694-4FB5-5F62-64E5199C9E8B}"/>
              </a:ext>
            </a:extLst>
          </p:cNvPr>
          <p:cNvSpPr/>
          <p:nvPr/>
        </p:nvSpPr>
        <p:spPr>
          <a:xfrm>
            <a:off x="3037172" y="2820530"/>
            <a:ext cx="1278502" cy="1561308"/>
          </a:xfrm>
          <a:prstGeom prst="frame">
            <a:avLst>
              <a:gd name="adj1" fmla="val 962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框架 5">
            <a:extLst>
              <a:ext uri="{FF2B5EF4-FFF2-40B4-BE49-F238E27FC236}">
                <a16:creationId xmlns:a16="http://schemas.microsoft.com/office/drawing/2014/main" id="{476DDEB3-1417-4992-CE4C-4E8979F78F68}"/>
              </a:ext>
            </a:extLst>
          </p:cNvPr>
          <p:cNvSpPr/>
          <p:nvPr/>
        </p:nvSpPr>
        <p:spPr>
          <a:xfrm>
            <a:off x="2689746" y="4001294"/>
            <a:ext cx="1202492" cy="1861542"/>
          </a:xfrm>
          <a:prstGeom prst="frame">
            <a:avLst>
              <a:gd name="adj1" fmla="val 962"/>
            </a:avLst>
          </a:prstGeom>
          <a:solidFill>
            <a:schemeClr val="accent2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2B201DFD-9992-7EB1-A0BC-B8B3BBC93723}"/>
              </a:ext>
            </a:extLst>
          </p:cNvPr>
          <p:cNvCxnSpPr>
            <a:cxnSpLocks/>
          </p:cNvCxnSpPr>
          <p:nvPr/>
        </p:nvCxnSpPr>
        <p:spPr>
          <a:xfrm>
            <a:off x="4315674" y="3192272"/>
            <a:ext cx="11848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0D3580E-1E7B-14BB-0AAE-FA6470127795}"/>
              </a:ext>
            </a:extLst>
          </p:cNvPr>
          <p:cNvSpPr/>
          <p:nvPr/>
        </p:nvSpPr>
        <p:spPr>
          <a:xfrm>
            <a:off x="5542924" y="2960452"/>
            <a:ext cx="437882" cy="4636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97F9440C-36CB-CA0D-C17B-42426DEFC444}"/>
              </a:ext>
            </a:extLst>
          </p:cNvPr>
          <p:cNvCxnSpPr>
            <a:cxnSpLocks/>
          </p:cNvCxnSpPr>
          <p:nvPr/>
        </p:nvCxnSpPr>
        <p:spPr>
          <a:xfrm>
            <a:off x="3892238" y="5072588"/>
            <a:ext cx="16082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99316105-FFCA-F761-8E54-B2AD3B1F72BA}"/>
              </a:ext>
            </a:extLst>
          </p:cNvPr>
          <p:cNvSpPr/>
          <p:nvPr/>
        </p:nvSpPr>
        <p:spPr>
          <a:xfrm>
            <a:off x="5530045" y="4840768"/>
            <a:ext cx="437882" cy="4636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319EAC-1251-E709-1229-AE3D6038E366}"/>
              </a:ext>
            </a:extLst>
          </p:cNvPr>
          <p:cNvSpPr/>
          <p:nvPr/>
        </p:nvSpPr>
        <p:spPr>
          <a:xfrm>
            <a:off x="6658557" y="3461040"/>
            <a:ext cx="785611" cy="2428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E5A1FC-6E81-461E-75F4-CD86C7C2949D}"/>
              </a:ext>
            </a:extLst>
          </p:cNvPr>
          <p:cNvSpPr/>
          <p:nvPr/>
        </p:nvSpPr>
        <p:spPr>
          <a:xfrm>
            <a:off x="6658556" y="3703911"/>
            <a:ext cx="785611" cy="2428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4E3A20-7A9B-C8B6-7EAC-7E55CE1214D4}"/>
              </a:ext>
            </a:extLst>
          </p:cNvPr>
          <p:cNvSpPr/>
          <p:nvPr/>
        </p:nvSpPr>
        <p:spPr>
          <a:xfrm>
            <a:off x="6658555" y="3946782"/>
            <a:ext cx="785611" cy="24287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0772CB-801A-ABA9-A3DE-F5CC37682EB4}"/>
              </a:ext>
            </a:extLst>
          </p:cNvPr>
          <p:cNvSpPr/>
          <p:nvPr/>
        </p:nvSpPr>
        <p:spPr>
          <a:xfrm>
            <a:off x="6658554" y="4189653"/>
            <a:ext cx="785611" cy="2428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AB1561EA-4992-9016-14EB-5486B5E8F631}"/>
              </a:ext>
            </a:extLst>
          </p:cNvPr>
          <p:cNvSpPr/>
          <p:nvPr/>
        </p:nvSpPr>
        <p:spPr>
          <a:xfrm>
            <a:off x="6079007" y="3192272"/>
            <a:ext cx="270456" cy="188031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D978480-0CAF-0EB4-68B4-3E1AE46A8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300" y="1227122"/>
            <a:ext cx="2652662" cy="3647411"/>
          </a:xfrm>
          <a:prstGeom prst="rect">
            <a:avLst/>
          </a:prstGeom>
        </p:spPr>
      </p:pic>
      <p:cxnSp>
        <p:nvCxnSpPr>
          <p:cNvPr id="21" name="曲线连接符 20">
            <a:extLst>
              <a:ext uri="{FF2B5EF4-FFF2-40B4-BE49-F238E27FC236}">
                <a16:creationId xmlns:a16="http://schemas.microsoft.com/office/drawing/2014/main" id="{7BB9B32C-ADEC-9542-F13D-333CA754A8FB}"/>
              </a:ext>
            </a:extLst>
          </p:cNvPr>
          <p:cNvCxnSpPr>
            <a:cxnSpLocks/>
            <a:stCxn id="14" idx="2"/>
          </p:cNvCxnSpPr>
          <p:nvPr/>
        </p:nvCxnSpPr>
        <p:spPr>
          <a:xfrm rot="5400000" flipH="1" flipV="1">
            <a:off x="8387851" y="2610290"/>
            <a:ext cx="485743" cy="3158726"/>
          </a:xfrm>
          <a:prstGeom prst="curvedConnector4">
            <a:avLst>
              <a:gd name="adj1" fmla="val -125322"/>
              <a:gd name="adj2" fmla="val 66627"/>
            </a:avLst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461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1129</Words>
  <Application>Microsoft Macintosh PowerPoint</Application>
  <PresentationFormat>宽屏</PresentationFormat>
  <Paragraphs>95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.SF NS</vt:lpstr>
      <vt:lpstr>等线</vt:lpstr>
      <vt:lpstr>等线 Light</vt:lpstr>
      <vt:lpstr>Arial</vt:lpstr>
      <vt:lpstr>Office 主题​​</vt:lpstr>
      <vt:lpstr>系统溯源图</vt:lpstr>
      <vt:lpstr>溯源图定义</vt:lpstr>
      <vt:lpstr>PowerPoint 演示文稿</vt:lpstr>
      <vt:lpstr>系统溯源图中节点和边的相关内容</vt:lpstr>
      <vt:lpstr>文中是如何处理数据的</vt:lpstr>
      <vt:lpstr>实体节点</vt:lpstr>
      <vt:lpstr>文中是如何处理数据的</vt:lpstr>
      <vt:lpstr>事件</vt:lpstr>
      <vt:lpstr>文中是如何处理数据的</vt:lpstr>
      <vt:lpstr>攻击序列生成</vt:lpstr>
      <vt:lpstr>word embedding</vt:lpstr>
      <vt:lpstr>两个结论：</vt:lpstr>
      <vt:lpstr>时序信息作用</vt:lpstr>
      <vt:lpstr>图结构信息作用</vt:lpstr>
      <vt:lpstr>当前的思路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LiWen Xiao</dc:creator>
  <cp:lastModifiedBy>LiWen Xiao</cp:lastModifiedBy>
  <cp:revision>1</cp:revision>
  <dcterms:created xsi:type="dcterms:W3CDTF">2024-11-10T11:47:00Z</dcterms:created>
  <dcterms:modified xsi:type="dcterms:W3CDTF">2024-11-11T02:30:31Z</dcterms:modified>
</cp:coreProperties>
</file>